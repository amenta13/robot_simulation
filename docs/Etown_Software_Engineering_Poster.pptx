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8C8"/>
    <a:srgbClr val="3DB5E6"/>
    <a:srgbClr val="E1261C"/>
    <a:srgbClr val="004B87"/>
    <a:srgbClr val="3FB4E5"/>
    <a:srgbClr val="0A2240"/>
    <a:srgbClr val="004B98"/>
    <a:srgbClr val="101B2C"/>
    <a:srgbClr val="FFFFFF"/>
    <a:srgbClr val="0045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2FB81F-FB45-A977-9C6A-31F46583A6AB}" v="23" dt="2025-12-12T22:08:27.965"/>
    <p1510:client id="{D8315EE1-C5ED-434E-AA45-8FA123AACD9F}" v="7" dt="2025-12-12T22:43:41.8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2119" y="65"/>
      </p:cViewPr>
      <p:guideLst>
        <p:guide orient="horz" pos="9216"/>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12/12/2025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12/12/2025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12/12/2025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12/12/2025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12/12/2025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12/12/2025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12/12/2025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jpeg"/><Relationship Id="rId7" Type="http://schemas.openxmlformats.org/officeDocument/2006/relationships/hyperlink" Target="http://vscode-file:/vscode-app/c:/Users/Hunna/AppData/Local/Programs/Microsoft%20VS%20Code/resources/app/out/vs/code/electron-browser/workbench/workbench.htm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55828" y="22297142"/>
            <a:ext cx="10577160"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292215"/>
            <a:ext cx="10361369" cy="4115240"/>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283154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dirty="0">
                <a:latin typeface="Verdana"/>
                <a:ea typeface="Verdana"/>
                <a:cs typeface="Verdana" panose="020B0604030504040204" pitchFamily="34" charset="0"/>
              </a:rPr>
              <a:t>Robot Simulation</a:t>
            </a:r>
            <a:endParaRPr lang="en-US" sz="6000" b="1" dirty="0">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800" dirty="0">
                <a:latin typeface="Verdana"/>
                <a:ea typeface="Verdana"/>
              </a:rPr>
              <a:t>Andrew Ament, Hunter Rohrbaugh, Braden Scott, Ryan Woodruff</a:t>
            </a:r>
            <a:endParaRPr lang="en-US" dirty="0"/>
          </a:p>
          <a:p>
            <a:pPr marL="457200" indent="-457200">
              <a:buFont typeface="Arial" panose="020B0604020202020204" pitchFamily="34" charset="0"/>
              <a:buChar char="•"/>
            </a:pPr>
            <a:r>
              <a:rPr lang="en-US" sz="2800" dirty="0">
                <a:latin typeface="Verdana"/>
                <a:ea typeface="Verdana"/>
                <a:cs typeface="Verdana" panose="020B0604030504040204" pitchFamily="34" charset="0"/>
              </a:rPr>
              <a:t>Professor Nancy Reddig</a:t>
            </a:r>
            <a:r>
              <a:rPr lang="en-US" sz="6000" b="1" dirty="0">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728726"/>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 ERD MODEL </a:t>
            </a: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dirty="0">
                <a:latin typeface="Verdana" panose="020B0604030504040204" pitchFamily="34" charset="0"/>
                <a:ea typeface="Verdana" panose="020B0604030504040204" pitchFamily="34" charset="0"/>
                <a:cs typeface="Verdana" panose="020B0604030504040204" pitchFamily="34" charset="0"/>
              </a:rPr>
              <a:t>E</a:t>
            </a:r>
            <a:r>
              <a:rPr lang="en-US" sz="3600" b="1" dirty="0">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dirty="0">
                <a:latin typeface="Verdana" panose="020B0604030504040204" pitchFamily="34" charset="0"/>
                <a:ea typeface="Verdana" panose="020B0604030504040204" pitchFamily="34" charset="0"/>
                <a:cs typeface="Verdana" panose="020B0604030504040204" pitchFamily="34" charset="0"/>
              </a:rPr>
              <a:t>E</a:t>
            </a:r>
            <a:r>
              <a:rPr lang="en-US" sz="3600" b="1" dirty="0">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412479"/>
            <a:ext cx="9157308" cy="4708981"/>
          </a:xfrm>
          <a:prstGeom prst="rect">
            <a:avLst/>
          </a:prstGeom>
          <a:noFill/>
          <a:ln w="9525">
            <a:noFill/>
            <a:miter lim="800000"/>
            <a:headEnd/>
            <a:tailEnd/>
          </a:ln>
        </p:spPr>
        <p:txBody>
          <a:bodyPr wrap="square" lIns="91440" tIns="45720" rIns="91440" bIns="45720" anchor="t">
            <a:spAutoFit/>
          </a:bodyPr>
          <a:lstStyle/>
          <a:p>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DESIGN SPECIFICATIONS &amp; SYSTEM REQUIREMENTS</a:t>
            </a:r>
          </a:p>
          <a:p>
            <a:endPar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800" dirty="0">
                <a:solidFill>
                  <a:schemeClr val="bg1"/>
                </a:solidFill>
                <a:latin typeface="Verdana"/>
                <a:ea typeface="Verdana"/>
                <a:cs typeface="Verdana" panose="020B0604030504040204" pitchFamily="34" charset="0"/>
              </a:rPr>
              <a:t>The website connects to the robotic arm by using a MySQL database to hold instructions.</a:t>
            </a:r>
            <a:endParaRPr lang="en-US" sz="2800" dirty="0">
              <a:solidFill>
                <a:schemeClr val="bg1"/>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800" dirty="0">
                <a:solidFill>
                  <a:schemeClr val="bg1"/>
                </a:solidFill>
                <a:latin typeface="Verdana"/>
                <a:ea typeface="Verdana"/>
                <a:cs typeface="Verdana" panose="020B0604030504040204" pitchFamily="34" charset="0"/>
              </a:rPr>
              <a:t>The robotic arm’s instructions are coded with </a:t>
            </a:r>
            <a:r>
              <a:rPr lang="en-US" sz="2800" dirty="0" err="1">
                <a:solidFill>
                  <a:schemeClr val="bg1"/>
                </a:solidFill>
                <a:latin typeface="Verdana"/>
                <a:ea typeface="Verdana"/>
                <a:cs typeface="Verdana" panose="020B0604030504040204" pitchFamily="34" charset="0"/>
              </a:rPr>
              <a:t>MyBlockly</a:t>
            </a:r>
            <a:r>
              <a:rPr lang="en-US" sz="2800" dirty="0">
                <a:solidFill>
                  <a:schemeClr val="bg1"/>
                </a:solidFill>
                <a:latin typeface="Verdana"/>
                <a:ea typeface="Verdana"/>
                <a:cs typeface="Verdana" panose="020B0604030504040204" pitchFamily="34" charset="0"/>
              </a:rPr>
              <a:t> code and translated into python.</a:t>
            </a:r>
          </a:p>
          <a:p>
            <a:pPr marL="457200" indent="-457200">
              <a:buFont typeface="Arial" panose="020B0604020202020204" pitchFamily="34" charset="0"/>
              <a:buChar char="•"/>
            </a:pPr>
            <a:r>
              <a:rPr lang="en-US" sz="2800" dirty="0">
                <a:solidFill>
                  <a:schemeClr val="bg1"/>
                </a:solidFill>
                <a:latin typeface="Verdana"/>
                <a:ea typeface="Verdana"/>
                <a:cs typeface="Verdana" panose="020B0604030504040204" pitchFamily="34" charset="0"/>
              </a:rPr>
              <a:t>The website utilizes multiple coding languages including HTML, PHP, CSS, and JavaScript.</a:t>
            </a:r>
            <a:endParaRPr lang="en-US" sz="2800"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616405" y="22449466"/>
            <a:ext cx="9714626" cy="728726"/>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LESSONS LEARNED</a:t>
            </a:r>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1421223"/>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REFERENCES &amp; ACKNOWLEDGEMENTS</a:t>
            </a: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00974" y="4893345"/>
            <a:ext cx="8678306" cy="3000821"/>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dirty="0">
                <a:solidFill>
                  <a:srgbClr val="004B98"/>
                </a:solidFill>
                <a:latin typeface="Verdana"/>
                <a:ea typeface="Verdana"/>
                <a:cs typeface="Verdana" panose="020B0604030504040204" pitchFamily="34" charset="0"/>
              </a:rPr>
              <a:t>Introduction/Purpose</a:t>
            </a:r>
          </a:p>
          <a:p>
            <a:r>
              <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rPr>
              <a:t>The </a:t>
            </a:r>
            <a:r>
              <a:rPr lang="en-US" sz="2400" dirty="0" err="1">
                <a:solidFill>
                  <a:schemeClr val="bg1"/>
                </a:solidFill>
                <a:latin typeface="Verdana" panose="020B0604030504040204" pitchFamily="34" charset="0"/>
                <a:ea typeface="Verdana" panose="020B0604030504040204" pitchFamily="34" charset="0"/>
                <a:cs typeface="Verdana" panose="020B0604030504040204" pitchFamily="34" charset="0"/>
              </a:rPr>
              <a:t>MyCobot</a:t>
            </a:r>
            <a:r>
              <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rPr>
              <a:t> robotic arm and our website serve as an example of what perspective students can expect to work on while attending Elizabethtown College.</a:t>
            </a:r>
            <a:endParaRPr lang="en-US" sz="2400" dirty="0">
              <a:solidFill>
                <a:schemeClr val="bg1"/>
              </a:solidFill>
            </a:endParaRPr>
          </a:p>
          <a:p>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dirty="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5623468" y="10547598"/>
            <a:ext cx="5238002" cy="3556075"/>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045285" y="17962948"/>
            <a:ext cx="7375827" cy="3594348"/>
            <a:chOff x="2087371" y="5007162"/>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087371" y="5007162"/>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302746" y="5166743"/>
              <a:ext cx="8859298" cy="4177025"/>
            </a:xfrm>
            <a:prstGeom prst="rect">
              <a:avLst/>
            </a:prstGeom>
          </p:spPr>
          <p:txBody>
            <a:bodyPr wrap="square">
              <a:spAutoFit/>
            </a:bodyPr>
            <a:lstStyle/>
            <a:p>
              <a:pPr>
                <a:spcAft>
                  <a:spcPts val="600"/>
                </a:spcAft>
              </a:pPr>
              <a:r>
                <a:rPr lang="en-US" sz="4400" b="1" dirty="0">
                  <a:solidFill>
                    <a:schemeClr val="bg1"/>
                  </a:solidFill>
                  <a:latin typeface="Verdana" panose="020B0604030504040204" pitchFamily="34" charset="0"/>
                  <a:ea typeface="Verdana" panose="020B0604030504040204" pitchFamily="34" charset="0"/>
                  <a:cs typeface="Verdana" panose="020B0604030504040204" pitchFamily="34" charset="0"/>
                </a:rPr>
                <a:t>IMPACT</a:t>
              </a:r>
            </a:p>
            <a:p>
              <a:pPr>
                <a:spcAft>
                  <a:spcPts val="600"/>
                </a:spcAft>
              </a:pPr>
              <a:r>
                <a:rPr lang="en-US" sz="2800" dirty="0">
                  <a:solidFill>
                    <a:schemeClr val="bg1"/>
                  </a:solidFill>
                  <a:latin typeface="Verdana" panose="020B0604030504040204" pitchFamily="34" charset="0"/>
                  <a:ea typeface="Verdana" panose="020B0604030504040204" pitchFamily="34" charset="0"/>
                  <a:cs typeface="Verdana" panose="020B0604030504040204" pitchFamily="34" charset="0"/>
                </a:rPr>
                <a:t>The live interactive demonstration displays the academic opportunities that the Engineering and Computer Science department at Elizabethtown College provides for perspective students.</a:t>
              </a:r>
              <a:endParaRPr lang="en-US" sz="2800" dirty="0">
                <a:solidFill>
                  <a:schemeClr val="bg1"/>
                </a:solidFill>
              </a:endParaRPr>
            </a:p>
          </p:txBody>
        </p:sp>
      </p:gr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20509176" cy="2416046"/>
          </a:xfrm>
          <a:prstGeom prst="rect">
            <a:avLst/>
          </a:prstGeom>
          <a:noFill/>
        </p:spPr>
        <p:txBody>
          <a:bodyPr wrap="square" lIns="91440" tIns="45720" rIns="91440" bIns="45720" anchor="t">
            <a:spAutoFit/>
          </a:bodyPr>
          <a:lstStyle/>
          <a:p>
            <a:pPr>
              <a:lnSpc>
                <a:spcPts val="5400"/>
              </a:lnSpc>
              <a:spcAft>
                <a:spcPts val="1200"/>
              </a:spcAft>
            </a:pPr>
            <a:r>
              <a:rPr lang="en-US" sz="4400" b="1" dirty="0">
                <a:solidFill>
                  <a:srgbClr val="004B98"/>
                </a:solidFill>
                <a:latin typeface="Verdana"/>
                <a:ea typeface="Verdana"/>
                <a:cs typeface="Verdana" panose="020B0604030504040204" pitchFamily="34" charset="0"/>
              </a:rPr>
              <a:t>Key Features</a:t>
            </a:r>
            <a:endParaRPr lang="en-US" sz="4400" b="1" dirty="0">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3200" dirty="0">
                <a:solidFill>
                  <a:schemeClr val="bg1"/>
                </a:solidFill>
                <a:latin typeface="Verdana" panose="020B0604030504040204" pitchFamily="34" charset="0"/>
                <a:ea typeface="Verdana" panose="020B0604030504040204" pitchFamily="34" charset="0"/>
                <a:cs typeface="Verdana" panose="020B0604030504040204" pitchFamily="34" charset="0"/>
              </a:rPr>
              <a:t>The project’s main feature on the website is located on the Special Controls page. The robotic arm is loaded with five preprogrammed instructions to perform. Each image on the page can be clicked to send directions to the robot to perform in real time based on its corresponding caption.</a:t>
            </a:r>
            <a:endParaRPr lang="en-US" sz="32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dirty="0">
                <a:latin typeface="Verdana"/>
                <a:ea typeface="Verdana"/>
                <a:cs typeface="Verdana" panose="020B0604030504040204" pitchFamily="34" charset="0"/>
              </a:rPr>
              <a:t>Software Engineering Project 2023</a:t>
            </a:r>
            <a:endParaRPr lang="en-US" sz="3800" b="1" dirty="0">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diagram of a computer&#10;&#10;AI-generated content may be incorrect.">
            <a:extLst>
              <a:ext uri="{FF2B5EF4-FFF2-40B4-BE49-F238E27FC236}">
                <a16:creationId xmlns:a16="http://schemas.microsoft.com/office/drawing/2014/main" id="{0E0E1E12-8012-796E-D67C-644B0B8309CD}"/>
              </a:ext>
            </a:extLst>
          </p:cNvPr>
          <p:cNvPicPr>
            <a:picLocks noChangeAspect="1"/>
          </p:cNvPicPr>
          <p:nvPr/>
        </p:nvPicPr>
        <p:blipFill>
          <a:blip r:embed="rId6"/>
          <a:srcRect l="1284" t="-1189" r="1101" b="-698"/>
          <a:stretch>
            <a:fillRect/>
          </a:stretch>
        </p:blipFill>
        <p:spPr>
          <a:xfrm>
            <a:off x="12047409" y="6442762"/>
            <a:ext cx="8162365" cy="7678024"/>
          </a:xfrm>
          <a:prstGeom prst="rect">
            <a:avLst/>
          </a:prstGeom>
        </p:spPr>
      </p:pic>
      <p:sp>
        <p:nvSpPr>
          <p:cNvPr id="3" name="TextBox 2">
            <a:extLst>
              <a:ext uri="{FF2B5EF4-FFF2-40B4-BE49-F238E27FC236}">
                <a16:creationId xmlns:a16="http://schemas.microsoft.com/office/drawing/2014/main" id="{658A56C2-DD78-895C-3CBA-E56D78634537}"/>
              </a:ext>
            </a:extLst>
          </p:cNvPr>
          <p:cNvSpPr txBox="1"/>
          <p:nvPr/>
        </p:nvSpPr>
        <p:spPr>
          <a:xfrm>
            <a:off x="11019656" y="23902045"/>
            <a:ext cx="4881962" cy="25131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solidFill>
                  <a:schemeClr val="bg1"/>
                </a:solidFill>
                <a:latin typeface="Verdana"/>
                <a:ea typeface="Verdana"/>
              </a:rPr>
              <a:t>Every member of our team made great contributions and was dedicated help in any way that they could.</a:t>
            </a:r>
          </a:p>
          <a:p>
            <a:endParaRPr lang="en-US" sz="1400" dirty="0">
              <a:solidFill>
                <a:schemeClr val="bg1"/>
              </a:solidFill>
              <a:latin typeface="Verdana"/>
              <a:ea typeface="Verdana"/>
            </a:endParaRPr>
          </a:p>
          <a:p>
            <a:r>
              <a:rPr lang="en-US" sz="1400" dirty="0">
                <a:solidFill>
                  <a:schemeClr val="bg1"/>
                </a:solidFill>
                <a:latin typeface="Verdana"/>
                <a:ea typeface="Verdana"/>
              </a:rPr>
              <a:t>Thank you to Prof. Reddig for allowing us access to the robot and guiding us through the project when we got stuck, </a:t>
            </a:r>
            <a:endParaRPr lang="en-US" sz="1400" dirty="0">
              <a:solidFill>
                <a:schemeClr val="bg1"/>
              </a:solidFill>
              <a:ea typeface="Verdana"/>
              <a:cs typeface="Arial"/>
            </a:endParaRPr>
          </a:p>
          <a:p>
            <a:br>
              <a:rPr lang="en-US" sz="1400" dirty="0">
                <a:latin typeface="Verdana"/>
                <a:ea typeface="Verdana"/>
              </a:rPr>
            </a:br>
            <a:r>
              <a:rPr lang="en-US" sz="1400" dirty="0">
                <a:solidFill>
                  <a:schemeClr val="bg1"/>
                </a:solidFill>
                <a:latin typeface="Verdana"/>
                <a:ea typeface="Verdana"/>
              </a:rPr>
              <a:t>Thank you Dr. Wang for teaching Hunter the knowledge needed for designing and making a functioning website</a:t>
            </a:r>
            <a:endParaRPr lang="en-US" sz="1400" dirty="0">
              <a:solidFill>
                <a:schemeClr val="bg1"/>
              </a:solidFill>
              <a:cs typeface="Arial"/>
            </a:endParaRPr>
          </a:p>
        </p:txBody>
      </p:sp>
      <p:sp>
        <p:nvSpPr>
          <p:cNvPr id="4" name="TextBox 3">
            <a:extLst>
              <a:ext uri="{FF2B5EF4-FFF2-40B4-BE49-F238E27FC236}">
                <a16:creationId xmlns:a16="http://schemas.microsoft.com/office/drawing/2014/main" id="{400174E6-E1EC-6462-DB22-6D88897A1CB4}"/>
              </a:ext>
            </a:extLst>
          </p:cNvPr>
          <p:cNvSpPr txBox="1"/>
          <p:nvPr/>
        </p:nvSpPr>
        <p:spPr>
          <a:xfrm>
            <a:off x="16179624" y="23902023"/>
            <a:ext cx="5223034" cy="2492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solidFill>
                  <a:schemeClr val="bg1"/>
                </a:solidFill>
                <a:latin typeface="Verdana"/>
                <a:ea typeface="Verdana"/>
                <a:cs typeface="Arial"/>
              </a:rPr>
              <a:t>[1] Elephant Robotics, "</a:t>
            </a:r>
            <a:r>
              <a:rPr lang="en-US" sz="1200" dirty="0" err="1">
                <a:solidFill>
                  <a:schemeClr val="bg1"/>
                </a:solidFill>
                <a:latin typeface="Verdana"/>
                <a:ea typeface="Verdana"/>
                <a:cs typeface="Arial"/>
              </a:rPr>
              <a:t>MyCobot</a:t>
            </a:r>
            <a:r>
              <a:rPr lang="en-US" sz="1200" dirty="0">
                <a:solidFill>
                  <a:schemeClr val="bg1"/>
                </a:solidFill>
                <a:latin typeface="Verdana"/>
                <a:ea typeface="Verdana"/>
                <a:cs typeface="Arial"/>
              </a:rPr>
              <a:t> 280 Pi - 6 DOF Collaborative Robot," Elephant Robotics, Shenzhen, China.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https://www.elephantrobotics.com/en/mycobot-280-pi-2023/</a:t>
            </a:r>
            <a:endParaRPr lang="en-US" sz="1200" dirty="0">
              <a:solidFill>
                <a:schemeClr val="bg1"/>
              </a:solidFill>
              <a:latin typeface="Verdana"/>
              <a:ea typeface="Verdana"/>
              <a:cs typeface="Arial"/>
            </a:endParaRPr>
          </a:p>
          <a:p>
            <a:r>
              <a:rPr lang="en-US" sz="1200" dirty="0">
                <a:solidFill>
                  <a:schemeClr val="bg1"/>
                </a:solidFill>
                <a:latin typeface="Verdana"/>
                <a:ea typeface="Verdana"/>
                <a:cs typeface="Arial"/>
              </a:rPr>
              <a:t>[2] The PHP Group, "PHP: Hypertext Preprocessor," version 7.0+,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https://www.php.net/</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[3] Oracle Corporation, "MySQL Database,"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https://www.mysql.com/</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[4] "</a:t>
            </a:r>
            <a:r>
              <a:rPr lang="en-US" sz="1200" dirty="0" err="1">
                <a:solidFill>
                  <a:schemeClr val="bg1"/>
                </a:solidFill>
                <a:latin typeface="Verdana"/>
                <a:ea typeface="Verdana"/>
                <a:cs typeface="Arial"/>
              </a:rPr>
              <a:t>mysql</a:t>
            </a:r>
            <a:r>
              <a:rPr lang="en-US" sz="1200" dirty="0">
                <a:solidFill>
                  <a:schemeClr val="bg1"/>
                </a:solidFill>
                <a:latin typeface="Verdana"/>
                <a:ea typeface="Verdana"/>
                <a:cs typeface="Arial"/>
              </a:rPr>
              <a:t>-connector-python: MySQL driver written in Python," </a:t>
            </a:r>
            <a:r>
              <a:rPr lang="en-US" sz="1200" dirty="0" err="1">
                <a:solidFill>
                  <a:schemeClr val="bg1"/>
                </a:solidFill>
                <a:latin typeface="Verdana"/>
                <a:ea typeface="Verdana"/>
                <a:cs typeface="Arial"/>
              </a:rPr>
              <a:t>PyPI</a:t>
            </a:r>
            <a:r>
              <a:rPr lang="en-US" sz="1200" dirty="0">
                <a:solidFill>
                  <a:schemeClr val="bg1"/>
                </a:solidFill>
                <a:latin typeface="Verdana"/>
                <a:ea typeface="Verdana"/>
                <a:cs typeface="Arial"/>
              </a:rPr>
              <a:t>,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https://pypi.org/project/mysql-connector-python/</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a:p>
            <a:r>
              <a:rPr lang="en-US" sz="1200" dirty="0">
                <a:solidFill>
                  <a:schemeClr val="bg1"/>
                </a:solidFill>
                <a:latin typeface="Verdana"/>
                <a:ea typeface="Verdana"/>
                <a:cs typeface="Arial"/>
              </a:rPr>
              <a:t>[5] WinSCP, "WinSCP - Free SFTP, SCP, S3 and FTP client for Windows," 2025. [Online]. Available: </a:t>
            </a:r>
            <a:r>
              <a:rPr lang="en-US" sz="1200" dirty="0">
                <a:solidFill>
                  <a:schemeClr val="bg1"/>
                </a:solidFill>
                <a:latin typeface="Verdana"/>
                <a:ea typeface="Verdana"/>
                <a:cs typeface="Arial"/>
                <a:hlinkClick r:id="rId7">
                  <a:extLst>
                    <a:ext uri="{A12FA001-AC4F-418D-AE19-62706E023703}">
                      <ahyp:hlinkClr xmlns:ahyp="http://schemas.microsoft.com/office/drawing/2018/hyperlinkcolor" val="tx"/>
                    </a:ext>
                  </a:extLst>
                </a:hlinkClick>
              </a:rPr>
              <a:t>https://winscp.net/</a:t>
            </a:r>
            <a:endParaRPr lang="en-US" sz="1200" dirty="0">
              <a:solidFill>
                <a:schemeClr val="bg1"/>
              </a:solidFill>
              <a:latin typeface="Verdana"/>
              <a:ea typeface="Verdana"/>
              <a:hlinkClick r:id="" action="ppaction://noaction">
                <a:extLst>
                  <a:ext uri="{A12FA001-AC4F-418D-AE19-62706E023703}">
                    <ahyp:hlinkClr xmlns:ahyp="http://schemas.microsoft.com/office/drawing/2018/hyperlinkcolor" val="tx"/>
                  </a:ext>
                </a:extLst>
              </a:hlinkClick>
            </a:endParaRPr>
          </a:p>
        </p:txBody>
      </p:sp>
      <p:sp>
        <p:nvSpPr>
          <p:cNvPr id="9" name="TextBox 8">
            <a:extLst>
              <a:ext uri="{FF2B5EF4-FFF2-40B4-BE49-F238E27FC236}">
                <a16:creationId xmlns:a16="http://schemas.microsoft.com/office/drawing/2014/main" id="{12BE7911-04DC-DF72-38CB-F66607827A42}"/>
              </a:ext>
            </a:extLst>
          </p:cNvPr>
          <p:cNvSpPr txBox="1"/>
          <p:nvPr/>
        </p:nvSpPr>
        <p:spPr>
          <a:xfrm>
            <a:off x="430817" y="23119270"/>
            <a:ext cx="10229239"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800" b="1" dirty="0">
                <a:solidFill>
                  <a:schemeClr val="bg1"/>
                </a:solidFill>
                <a:latin typeface="Verdana"/>
                <a:ea typeface="Verdana"/>
                <a:cs typeface="Arial"/>
              </a:rPr>
              <a:t>Database-Driven Robot Control:</a:t>
            </a:r>
            <a:r>
              <a:rPr lang="en-US" sz="1800" dirty="0">
                <a:solidFill>
                  <a:schemeClr val="bg1"/>
                </a:solidFill>
                <a:latin typeface="Verdana"/>
                <a:ea typeface="Verdana"/>
                <a:cs typeface="Arial"/>
              </a:rPr>
              <a:t> We learned how to use a database and a website to communicate with an external machine.</a:t>
            </a:r>
          </a:p>
          <a:p>
            <a:endParaRPr lang="en-US" sz="1800" dirty="0">
              <a:solidFill>
                <a:schemeClr val="bg1"/>
              </a:solidFill>
              <a:latin typeface="Verdana"/>
              <a:ea typeface="Verdana"/>
              <a:cs typeface="Arial"/>
            </a:endParaRPr>
          </a:p>
          <a:p>
            <a:r>
              <a:rPr lang="en-US" sz="1800" b="1" dirty="0">
                <a:solidFill>
                  <a:schemeClr val="bg1"/>
                </a:solidFill>
                <a:latin typeface="Verdana"/>
                <a:ea typeface="Verdana"/>
                <a:cs typeface="Arial"/>
              </a:rPr>
              <a:t>Identifying Potential Improvements:</a:t>
            </a:r>
            <a:r>
              <a:rPr lang="en-US" sz="1800" dirty="0">
                <a:solidFill>
                  <a:schemeClr val="bg1"/>
                </a:solidFill>
                <a:latin typeface="Verdana"/>
                <a:ea typeface="Verdana"/>
                <a:cs typeface="Arial"/>
              </a:rPr>
              <a:t> We learned how to accurately identify when something could end up becoming a problem later in the project lifecycle, and how to fix these potential issues sooner rather than later.</a:t>
            </a:r>
          </a:p>
          <a:p>
            <a:endParaRPr lang="en-US" sz="1800" dirty="0">
              <a:solidFill>
                <a:schemeClr val="bg1"/>
              </a:solidFill>
              <a:latin typeface="Verdana"/>
              <a:ea typeface="Verdana"/>
              <a:cs typeface="Arial"/>
            </a:endParaRPr>
          </a:p>
          <a:p>
            <a:r>
              <a:rPr lang="en-US" sz="1800" b="1" dirty="0">
                <a:solidFill>
                  <a:schemeClr val="bg1"/>
                </a:solidFill>
                <a:latin typeface="Verdana"/>
                <a:ea typeface="Verdana"/>
                <a:cs typeface="Arial"/>
              </a:rPr>
              <a:t>Working in a Team: </a:t>
            </a:r>
            <a:r>
              <a:rPr lang="en-US" sz="1800" dirty="0">
                <a:solidFill>
                  <a:schemeClr val="bg1"/>
                </a:solidFill>
                <a:latin typeface="Verdana"/>
                <a:ea typeface="Verdana"/>
                <a:cs typeface="Arial"/>
              </a:rPr>
              <a:t>Teamwork is one of the most important skills someone can have. Through this project we had to communicate effectively with each other so that our CS people can understand the engineering side of our project, and the engineers understand the CS side of our project</a:t>
            </a:r>
            <a:endParaRPr lang="en-US" sz="1800" b="1" dirty="0">
              <a:solidFill>
                <a:schemeClr val="bg1"/>
              </a:solidFill>
              <a:latin typeface="Verdana"/>
              <a:ea typeface="Verdana"/>
              <a:cs typeface="Arial"/>
            </a:endParaRPr>
          </a:p>
        </p:txBody>
      </p:sp>
      <p:pic>
        <p:nvPicPr>
          <p:cNvPr id="23" name="Picture 22" descr="A screenshot of a computer&#10;&#10;AI-generated content may be incorrect.">
            <a:extLst>
              <a:ext uri="{FF2B5EF4-FFF2-40B4-BE49-F238E27FC236}">
                <a16:creationId xmlns:a16="http://schemas.microsoft.com/office/drawing/2014/main" id="{E57AA732-8C08-FD4D-D447-8D416C9E8625}"/>
              </a:ext>
            </a:extLst>
          </p:cNvPr>
          <p:cNvPicPr>
            <a:picLocks noChangeAspect="1"/>
          </p:cNvPicPr>
          <p:nvPr/>
        </p:nvPicPr>
        <p:blipFill>
          <a:blip r:embed="rId8"/>
          <a:stretch>
            <a:fillRect/>
          </a:stretch>
        </p:blipFill>
        <p:spPr>
          <a:xfrm>
            <a:off x="718212" y="17968910"/>
            <a:ext cx="7834117" cy="3643584"/>
          </a:xfrm>
          <a:prstGeom prst="rect">
            <a:avLst/>
          </a:prstGeom>
        </p:spPr>
      </p:pic>
      <p:pic>
        <p:nvPicPr>
          <p:cNvPr id="1026" name="Picture 2" descr="A white pipe with a black screen&#10;&#10;AI-generated content may be incorrect.">
            <a:extLst>
              <a:ext uri="{FF2B5EF4-FFF2-40B4-BE49-F238E27FC236}">
                <a16:creationId xmlns:a16="http://schemas.microsoft.com/office/drawing/2014/main" id="{6186A77F-D86D-76BF-BD24-76B30F47CE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875520" y="18027377"/>
            <a:ext cx="3585117" cy="35851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EFA95D5A453204B82B388E0EAEB7722" ma:contentTypeVersion="17" ma:contentTypeDescription="Create a new document." ma:contentTypeScope="" ma:versionID="dda70ad3042d19a9677b7138053d1fa9">
  <xsd:schema xmlns:xsd="http://www.w3.org/2001/XMLSchema" xmlns:xs="http://www.w3.org/2001/XMLSchema" xmlns:p="http://schemas.microsoft.com/office/2006/metadata/properties" xmlns:ns2="fab6ae7d-06c6-440f-bba1-9caa7231207d" xmlns:ns3="c875c36d-ac51-4e84-9442-bee5089cbcea" targetNamespace="http://schemas.microsoft.com/office/2006/metadata/properties" ma:root="true" ma:fieldsID="98010f272a5ba5ef2e8b4481ca434998" ns2:_="" ns3:_="">
    <xsd:import namespace="fab6ae7d-06c6-440f-bba1-9caa7231207d"/>
    <xsd:import namespace="c875c36d-ac51-4e84-9442-bee5089cbcea"/>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Location" minOccurs="0"/>
                <xsd:element ref="ns2:lcf76f155ced4ddcb4097134ff3c332f" minOccurs="0"/>
                <xsd:element ref="ns3:TaxCatchAll" minOccurs="0"/>
                <xsd:element ref="ns2:MediaLengthInSecond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b6ae7d-06c6-440f-bba1-9caa7231207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6b4d52c6-c4b0-46c1-b394-80ad7ac9603b" ma:termSetId="09814cd3-568e-fe90-9814-8d621ff8fb84" ma:anchorId="fba54fb3-c3e1-fe81-a776-ca4b69148c4d" ma:open="true" ma:isKeyword="false">
      <xsd:complexType>
        <xsd:sequence>
          <xsd:element ref="pc:Terms" minOccurs="0" maxOccurs="1"/>
        </xsd:sequence>
      </xsd:complexType>
    </xsd:element>
    <xsd:element name="MediaLengthInSeconds" ma:index="23" nillable="true" ma:displayName="MediaLengthInSeconds" ma:hidden="true" ma:internalName="MediaLengthInSeconds" ma:readOnly="true">
      <xsd:simpleType>
        <xsd:restriction base="dms:Unknown"/>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875c36d-ac51-4e84-9442-bee5089cbcea"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c3b81428-a98e-4101-865d-41651c737e0e}" ma:internalName="TaxCatchAll" ma:showField="CatchAllData" ma:web="c875c36d-ac51-4e84-9442-bee5089cbce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c875c36d-ac51-4e84-9442-bee5089cbcea" xsi:nil="true"/>
    <lcf76f155ced4ddcb4097134ff3c332f xmlns="fab6ae7d-06c6-440f-bba1-9caa7231207d">
      <Terms xmlns="http://schemas.microsoft.com/office/infopath/2007/PartnerControls"/>
    </lcf76f155ced4ddcb4097134ff3c332f>
    <MediaLengthInSeconds xmlns="fab6ae7d-06c6-440f-bba1-9caa7231207d" xsi:nil="true"/>
    <SharedWithUsers xmlns="c875c36d-ac51-4e84-9442-bee5089cbcea">
      <UserInfo>
        <DisplayName/>
        <AccountId xsi:nil="true"/>
        <AccountType/>
      </UserInfo>
    </SharedWithUsers>
  </documentManagement>
</p:properties>
</file>

<file path=customXml/itemProps1.xml><?xml version="1.0" encoding="utf-8"?>
<ds:datastoreItem xmlns:ds="http://schemas.openxmlformats.org/officeDocument/2006/customXml" ds:itemID="{EA638ADA-06DF-45AB-BFB2-D0D6F294C0ED}">
  <ds:schemaRefs>
    <ds:schemaRef ds:uri="http://schemas.microsoft.com/sharepoint/v3/contenttype/forms"/>
  </ds:schemaRefs>
</ds:datastoreItem>
</file>

<file path=customXml/itemProps2.xml><?xml version="1.0" encoding="utf-8"?>
<ds:datastoreItem xmlns:ds="http://schemas.openxmlformats.org/officeDocument/2006/customXml" ds:itemID="{32646343-FA08-41DE-B0D1-4C7CF84D715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ab6ae7d-06c6-440f-bba1-9caa7231207d"/>
    <ds:schemaRef ds:uri="c875c36d-ac51-4e84-9442-bee5089cbc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A28B7BE-1EEF-4846-B0EC-E672D97B7FFD}">
  <ds:schemaRefs>
    <ds:schemaRef ds:uri="http://purl.org/dc/dcmitype/"/>
    <ds:schemaRef ds:uri="fab6ae7d-06c6-440f-bba1-9caa7231207d"/>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http://purl.org/dc/elements/1.1/"/>
    <ds:schemaRef ds:uri="c875c36d-ac51-4e84-9442-bee5089cbcea"/>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otalTime>5714</TotalTime>
  <Words>777</Words>
  <Application>Microsoft Office PowerPoint</Application>
  <PresentationFormat>Custom</PresentationFormat>
  <Paragraphs>43</Paragraphs>
  <Slides>1</Slides>
  <Notes>1</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lastModifiedBy>Ament, Andrew G</cp:lastModifiedBy>
  <cp:revision>197</cp:revision>
  <dcterms:created xsi:type="dcterms:W3CDTF">2008-04-17T15:23:35Z</dcterms:created>
  <dcterms:modified xsi:type="dcterms:W3CDTF">2025-12-12T22:47:22Z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0x0101008EFA95D5A453204B82B388E0EAEB7722</vt:lpwstr>
  </property>
  <property fmtid="{D5CDD505-2E9C-101B-9397-08002B2CF9AE}" pid="3" name="xd_ProgID">
    <vt:lpwstr/>
  </property>
  <property fmtid="{D5CDD505-2E9C-101B-9397-08002B2CF9AE}" pid="4" name="MediaServiceImageTags">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