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8C8"/>
    <a:srgbClr val="3DB5E6"/>
    <a:srgbClr val="E1261C"/>
    <a:srgbClr val="004B87"/>
    <a:srgbClr val="3FB4E5"/>
    <a:srgbClr val="0A2240"/>
    <a:srgbClr val="004B98"/>
    <a:srgbClr val="101B2C"/>
    <a:srgbClr val="FFFFFF"/>
    <a:srgbClr val="0045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C470D2-98B2-F6B1-04E1-B3F9791C0F13}" v="1367" dt="2025-12-10T20:02:51.935"/>
    <p1510:client id="{9CACFDFF-FDA0-02DC-9DA9-B2D9B608A7A8}" v="9" dt="2025-12-11T14:47:35.244"/>
    <p1510:client id="{B02DA858-2B5E-0B7D-9DA2-8B38B4DA8234}" v="245" dt="2025-12-10T22:00:54.207"/>
    <p1510:client id="{DA56A6E9-643B-DF4A-0C12-1D9F7E413DB1}" v="459" dt="2025-12-10T19:34:13.4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2119" y="-1326"/>
      </p:cViewPr>
      <p:guideLst>
        <p:guide orient="horz" pos="9216"/>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12/11/2025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12/11/2025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12/11/2025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12/11/2025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12/11/2025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jpeg"/><Relationship Id="rId7" Type="http://schemas.openxmlformats.org/officeDocument/2006/relationships/hyperlink" Target="http://vscode-file:/vscode-app/c:/Users/Hunna/AppData/Local/Programs/Microsoft%20VS%20Code/resources/app/out/vs/code/electron-browser/workbench/workbench.htm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55828" y="22297142"/>
            <a:ext cx="10577160"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292215"/>
            <a:ext cx="10361369" cy="4115240"/>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283154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dirty="0">
                <a:latin typeface="Verdana"/>
                <a:ea typeface="Verdana"/>
                <a:cs typeface="Verdana" panose="020B0604030504040204" pitchFamily="34" charset="0"/>
              </a:rPr>
              <a:t>Robot Simulation</a:t>
            </a:r>
            <a:endParaRPr lang="en-US" sz="6000" b="1" dirty="0">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800" dirty="0">
                <a:latin typeface="Verdana"/>
                <a:ea typeface="Verdana"/>
              </a:rPr>
              <a:t>Andrew Ament, Hunter Rohrbaugh, Braden Scott, Ryan Woodruff</a:t>
            </a:r>
            <a:endParaRPr lang="en-US" dirty="0"/>
          </a:p>
          <a:p>
            <a:pPr marL="457200" indent="-457200">
              <a:buFont typeface="Arial" panose="020B0604020202020204" pitchFamily="34" charset="0"/>
              <a:buChar char="•"/>
            </a:pPr>
            <a:r>
              <a:rPr lang="en-US" sz="2800" dirty="0">
                <a:latin typeface="Verdana"/>
                <a:ea typeface="Verdana"/>
                <a:cs typeface="Verdana" panose="020B0604030504040204" pitchFamily="34" charset="0"/>
              </a:rPr>
              <a:t>Professor Nancy Reddig</a:t>
            </a:r>
            <a:r>
              <a:rPr lang="en-US" sz="6000" b="1" dirty="0">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1421223"/>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TECHNICAL DESIGN &amp; DATA MODEL </a:t>
            </a: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dirty="0">
                <a:latin typeface="Verdana" panose="020B0604030504040204" pitchFamily="34" charset="0"/>
                <a:ea typeface="Verdana" panose="020B0604030504040204" pitchFamily="34" charset="0"/>
                <a:cs typeface="Verdana" panose="020B0604030504040204" pitchFamily="34" charset="0"/>
              </a:rPr>
              <a:t>E</a:t>
            </a:r>
            <a:r>
              <a:rPr lang="en-US" sz="3600" b="1" dirty="0">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dirty="0">
                <a:latin typeface="Verdana" panose="020B0604030504040204" pitchFamily="34" charset="0"/>
                <a:ea typeface="Verdana" panose="020B0604030504040204" pitchFamily="34" charset="0"/>
                <a:cs typeface="Verdana" panose="020B0604030504040204" pitchFamily="34" charset="0"/>
              </a:rPr>
              <a:t>E</a:t>
            </a:r>
            <a:r>
              <a:rPr lang="en-US" sz="3600" b="1" dirty="0">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412479"/>
            <a:ext cx="9157308" cy="3600986"/>
          </a:xfrm>
          <a:prstGeom prst="rect">
            <a:avLst/>
          </a:prstGeom>
          <a:noFill/>
          <a:ln w="9525">
            <a:noFill/>
            <a:miter lim="800000"/>
            <a:headEnd/>
            <a:tailEnd/>
          </a:ln>
        </p:spPr>
        <p:txBody>
          <a:bodyPr wrap="square" lIns="91440" tIns="45720" rIns="91440" bIns="45720" anchor="t">
            <a:spAutoFit/>
          </a:bodyPr>
          <a:lstStyle/>
          <a:p>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DESIGN SPECIFICATIONS &amp; SYSTEM REQUIREMENTS</a:t>
            </a:r>
          </a:p>
          <a:p>
            <a:endPar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dirty="0">
                <a:solidFill>
                  <a:schemeClr val="bg1"/>
                </a:solidFill>
                <a:latin typeface="Verdana"/>
                <a:ea typeface="Verdana"/>
                <a:cs typeface="Verdana" panose="020B0604030504040204" pitchFamily="34" charset="0"/>
              </a:rPr>
              <a:t>The website and robotic arm had to be connected through the use of a database.</a:t>
            </a:r>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dirty="0">
                <a:solidFill>
                  <a:schemeClr val="bg1"/>
                </a:solidFill>
                <a:latin typeface="Verdana"/>
                <a:ea typeface="Verdana"/>
                <a:cs typeface="Verdana" panose="020B0604030504040204" pitchFamily="34" charset="0"/>
              </a:rPr>
              <a:t>The robot had to be coded with </a:t>
            </a:r>
            <a:r>
              <a:rPr lang="en-US" sz="2400" dirty="0" err="1">
                <a:solidFill>
                  <a:schemeClr val="bg1"/>
                </a:solidFill>
                <a:latin typeface="Verdana"/>
                <a:ea typeface="Verdana"/>
                <a:cs typeface="Verdana" panose="020B0604030504040204" pitchFamily="34" charset="0"/>
              </a:rPr>
              <a:t>blockly</a:t>
            </a:r>
            <a:r>
              <a:rPr lang="en-US" sz="2400" dirty="0">
                <a:solidFill>
                  <a:schemeClr val="bg1"/>
                </a:solidFill>
                <a:latin typeface="Verdana"/>
                <a:ea typeface="Verdana"/>
                <a:cs typeface="Verdana" panose="020B0604030504040204" pitchFamily="34" charset="0"/>
              </a:rPr>
              <a:t> code as well as python.</a:t>
            </a:r>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616405" y="22449466"/>
            <a:ext cx="9714626" cy="728726"/>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LESSONS LEARNED</a:t>
            </a:r>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1421223"/>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REFERENCES &amp; ACKNOWLEDGEMENTS</a:t>
            </a: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00974" y="4893345"/>
            <a:ext cx="8678306" cy="1892826"/>
          </a:xfrm>
          <a:prstGeom prst="rect">
            <a:avLst/>
          </a:prstGeom>
          <a:noFill/>
          <a:ln w="9525">
            <a:noFill/>
            <a:miter lim="800000"/>
            <a:headEnd/>
            <a:tailEnd/>
          </a:ln>
        </p:spPr>
        <p:txBody>
          <a:bodyPr wrap="square">
            <a:spAutoFit/>
          </a:bodyPr>
          <a:lstStyle/>
          <a:p>
            <a:pPr>
              <a:lnSpc>
                <a:spcPts val="5400"/>
              </a:lnSpc>
            </a:pPr>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OPPORTUNITY/PURPOSE</a:t>
            </a:r>
          </a:p>
          <a:p>
            <a:r>
              <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rPr>
              <a:t>Problem identification, state of the art, and market. </a:t>
            </a:r>
          </a:p>
          <a:p>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dirty="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5623468" y="10547598"/>
            <a:ext cx="5238002" cy="3556075"/>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045285" y="17962948"/>
            <a:ext cx="7375827" cy="3594348"/>
            <a:chOff x="2087371" y="5007162"/>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087371" y="5007162"/>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285333" y="5497576"/>
              <a:ext cx="8624769" cy="2246139"/>
            </a:xfrm>
            <a:prstGeom prst="rect">
              <a:avLst/>
            </a:prstGeom>
          </p:spPr>
          <p:txBody>
            <a:bodyPr wrap="square">
              <a:spAutoFit/>
            </a:bodyPr>
            <a:lstStyle/>
            <a:p>
              <a:pPr>
                <a:spcAft>
                  <a:spcPts val="600"/>
                </a:spcAft>
              </a:pPr>
              <a:r>
                <a:rPr lang="en-US" sz="4400" b="1" dirty="0">
                  <a:solidFill>
                    <a:schemeClr val="bg1"/>
                  </a:solidFill>
                  <a:latin typeface="Verdana" panose="020B0604030504040204" pitchFamily="34" charset="0"/>
                  <a:ea typeface="Verdana" panose="020B0604030504040204" pitchFamily="34" charset="0"/>
                  <a:cs typeface="Verdana" panose="020B0604030504040204" pitchFamily="34" charset="0"/>
                </a:rPr>
                <a:t>IMPACT</a:t>
              </a:r>
            </a:p>
            <a:p>
              <a:pPr>
                <a:spcAft>
                  <a:spcPts val="600"/>
                </a:spcAft>
              </a:pPr>
              <a:r>
                <a:rPr lang="en-US" sz="2800" dirty="0">
                  <a:solidFill>
                    <a:schemeClr val="bg1"/>
                  </a:solidFill>
                  <a:latin typeface="Verdana" panose="020B0604030504040204" pitchFamily="34" charset="0"/>
                  <a:ea typeface="Verdana" panose="020B0604030504040204" pitchFamily="34" charset="0"/>
                  <a:cs typeface="Verdana" panose="020B0604030504040204" pitchFamily="34" charset="0"/>
                </a:rPr>
                <a:t>In 1-2 sentences, what positive impact does your project have? </a:t>
              </a:r>
            </a:p>
            <a:p>
              <a:pPr>
                <a:spcAft>
                  <a:spcPts val="600"/>
                </a:spcAft>
              </a:pPr>
              <a:r>
                <a:rPr lang="en-US" sz="2800" dirty="0">
                  <a:solidFill>
                    <a:schemeClr val="bg1"/>
                  </a:solidFill>
                  <a:latin typeface="Verdana" panose="020B0604030504040204" pitchFamily="34" charset="0"/>
                  <a:ea typeface="Verdana" panose="020B0604030504040204" pitchFamily="34" charset="0"/>
                  <a:cs typeface="Verdana" panose="020B0604030504040204" pitchFamily="34" charset="0"/>
                </a:rPr>
                <a:t>Environmental/climate? Social justice/equity? </a:t>
              </a:r>
              <a:endParaRPr lang="en-US" sz="2800" dirty="0">
                <a:solidFill>
                  <a:schemeClr val="bg1"/>
                </a:solidFill>
              </a:endParaRPr>
            </a:p>
          </p:txBody>
        </p:sp>
      </p:grpSp>
      <p:sp>
        <p:nvSpPr>
          <p:cNvPr id="22" name="Google Shape;128;p1">
            <a:extLst>
              <a:ext uri="{FF2B5EF4-FFF2-40B4-BE49-F238E27FC236}">
                <a16:creationId xmlns:a16="http://schemas.microsoft.com/office/drawing/2014/main" id="{D32BA0E8-46A5-D037-8A23-8F0B287020B9}"/>
              </a:ext>
            </a:extLst>
          </p:cNvPr>
          <p:cNvSpPr/>
          <p:nvPr/>
        </p:nvSpPr>
        <p:spPr>
          <a:xfrm rot="20844414">
            <a:off x="7076416" y="12218818"/>
            <a:ext cx="4805728" cy="2059823"/>
          </a:xfrm>
          <a:prstGeom prst="rect">
            <a:avLst/>
          </a:prstGeom>
          <a:solidFill>
            <a:srgbClr val="3DB5E6"/>
          </a:solidFill>
          <a:ln>
            <a:noFill/>
          </a:ln>
        </p:spPr>
        <p:txBody>
          <a:bodyPr spcFirstLastPara="1" wrap="square" lIns="83806" tIns="41892" rIns="83806" bIns="41892" anchor="t" anchorCtr="0">
            <a:spAutoFit/>
          </a:bodyPr>
          <a:lstStyle/>
          <a:p>
            <a:pPr algn="ctr"/>
            <a:r>
              <a:rPr lang="en-US" sz="2567" b="1" dirty="0">
                <a:solidFill>
                  <a:schemeClr val="bg1"/>
                </a:solidFill>
              </a:rPr>
              <a:t>You can ‘Color outside the lines’ to emphasize a key point. For example,</a:t>
            </a:r>
          </a:p>
          <a:p>
            <a:pPr algn="ctr"/>
            <a:r>
              <a:rPr lang="en-US" sz="2567" b="1" dirty="0">
                <a:solidFill>
                  <a:schemeClr val="bg1"/>
                </a:solidFill>
              </a:rPr>
              <a:t>Fun Fact: The system is designed to …</a:t>
            </a:r>
            <a:endParaRPr sz="2567" b="1" dirty="0">
              <a:solidFill>
                <a:schemeClr val="bg1"/>
              </a:solidFill>
            </a:endParaRPr>
          </a:p>
        </p:txBody>
      </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18606108" cy="2785378"/>
          </a:xfrm>
          <a:prstGeom prst="rect">
            <a:avLst/>
          </a:prstGeom>
          <a:noFill/>
        </p:spPr>
        <p:txBody>
          <a:bodyPr wrap="square">
            <a:spAutoFit/>
          </a:bodyPr>
          <a:lstStyle/>
          <a:p>
            <a:pPr>
              <a:lnSpc>
                <a:spcPts val="5400"/>
              </a:lnSpc>
              <a:spcAft>
                <a:spcPts val="1200"/>
              </a:spcAft>
            </a:pPr>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PROTOTYPE/PROCESS</a:t>
            </a:r>
            <a:endParaRPr lang="en-US" sz="4400" b="1" dirty="0">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4000" dirty="0">
                <a:solidFill>
                  <a:schemeClr val="bg1"/>
                </a:solidFill>
                <a:latin typeface="Verdana" panose="020B0604030504040204" pitchFamily="34" charset="0"/>
                <a:ea typeface="Verdana" panose="020B0604030504040204" pitchFamily="34" charset="0"/>
                <a:cs typeface="Verdana" panose="020B0604030504040204" pitchFamily="34" charset="0"/>
              </a:rPr>
              <a:t>The project’s main feature on the website is located on the Special Controls page. The images on the page can be clicked to send directions to the robot to perform in real time.</a:t>
            </a:r>
            <a:endParaRPr lang="en-US" sz="5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dirty="0">
                <a:latin typeface="Verdana"/>
                <a:ea typeface="Verdana"/>
                <a:cs typeface="Verdana" panose="020B0604030504040204" pitchFamily="34" charset="0"/>
              </a:rPr>
              <a:t>Software Engineering Project 2023</a:t>
            </a:r>
            <a:endParaRPr lang="en-US" sz="3800" b="1" dirty="0">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diagram of a computer&#10;&#10;AI-generated content may be incorrect.">
            <a:extLst>
              <a:ext uri="{FF2B5EF4-FFF2-40B4-BE49-F238E27FC236}">
                <a16:creationId xmlns:a16="http://schemas.microsoft.com/office/drawing/2014/main" id="{0E0E1E12-8012-796E-D67C-644B0B8309CD}"/>
              </a:ext>
            </a:extLst>
          </p:cNvPr>
          <p:cNvPicPr>
            <a:picLocks noChangeAspect="1"/>
          </p:cNvPicPr>
          <p:nvPr/>
        </p:nvPicPr>
        <p:blipFill>
          <a:blip r:embed="rId6"/>
          <a:srcRect l="1284" t="-1189" r="1101" b="-698"/>
          <a:stretch>
            <a:fillRect/>
          </a:stretch>
        </p:blipFill>
        <p:spPr>
          <a:xfrm>
            <a:off x="12047409" y="6705583"/>
            <a:ext cx="8162365" cy="7678024"/>
          </a:xfrm>
          <a:prstGeom prst="rect">
            <a:avLst/>
          </a:prstGeom>
        </p:spPr>
      </p:pic>
      <p:sp>
        <p:nvSpPr>
          <p:cNvPr id="3" name="TextBox 2">
            <a:extLst>
              <a:ext uri="{FF2B5EF4-FFF2-40B4-BE49-F238E27FC236}">
                <a16:creationId xmlns:a16="http://schemas.microsoft.com/office/drawing/2014/main" id="{658A56C2-DD78-895C-3CBA-E56D78634537}"/>
              </a:ext>
            </a:extLst>
          </p:cNvPr>
          <p:cNvSpPr txBox="1"/>
          <p:nvPr/>
        </p:nvSpPr>
        <p:spPr>
          <a:xfrm>
            <a:off x="11019656" y="23902045"/>
            <a:ext cx="4881962" cy="25131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solidFill>
                  <a:schemeClr val="bg1"/>
                </a:solidFill>
                <a:latin typeface="Verdana"/>
                <a:ea typeface="Verdana"/>
              </a:rPr>
              <a:t>Every member of our team made great contributions and was dedicated help in any way that they could.</a:t>
            </a:r>
          </a:p>
          <a:p>
            <a:endParaRPr lang="en-US" sz="1400" dirty="0">
              <a:solidFill>
                <a:schemeClr val="bg1"/>
              </a:solidFill>
              <a:latin typeface="Verdana"/>
              <a:ea typeface="Verdana"/>
            </a:endParaRPr>
          </a:p>
          <a:p>
            <a:r>
              <a:rPr lang="en-US" sz="1400" dirty="0">
                <a:solidFill>
                  <a:schemeClr val="bg1"/>
                </a:solidFill>
                <a:latin typeface="Verdana"/>
                <a:ea typeface="Verdana"/>
              </a:rPr>
              <a:t>Thank you to Prof. Reddig for allowing us access to the robot and guiding us through the project when we got stuck, </a:t>
            </a:r>
            <a:endParaRPr lang="en-US" sz="1400" dirty="0">
              <a:solidFill>
                <a:schemeClr val="bg1"/>
              </a:solidFill>
              <a:ea typeface="Verdana"/>
              <a:cs typeface="Arial"/>
            </a:endParaRPr>
          </a:p>
          <a:p>
            <a:br>
              <a:rPr lang="en-US" sz="1400" dirty="0">
                <a:latin typeface="Verdana"/>
                <a:ea typeface="Verdana"/>
              </a:rPr>
            </a:br>
            <a:r>
              <a:rPr lang="en-US" sz="1400" dirty="0">
                <a:solidFill>
                  <a:schemeClr val="bg1"/>
                </a:solidFill>
                <a:latin typeface="Verdana"/>
                <a:ea typeface="Verdana"/>
              </a:rPr>
              <a:t>Thank you Dr. Wang for teaching Hunter the knowledge needed for designing and making a functioning website</a:t>
            </a:r>
            <a:endParaRPr lang="en-US" sz="1400" dirty="0">
              <a:solidFill>
                <a:schemeClr val="bg1"/>
              </a:solidFill>
              <a:cs typeface="Arial"/>
            </a:endParaRPr>
          </a:p>
        </p:txBody>
      </p:sp>
      <p:sp>
        <p:nvSpPr>
          <p:cNvPr id="4" name="TextBox 3">
            <a:extLst>
              <a:ext uri="{FF2B5EF4-FFF2-40B4-BE49-F238E27FC236}">
                <a16:creationId xmlns:a16="http://schemas.microsoft.com/office/drawing/2014/main" id="{400174E6-E1EC-6462-DB22-6D88897A1CB4}"/>
              </a:ext>
            </a:extLst>
          </p:cNvPr>
          <p:cNvSpPr txBox="1"/>
          <p:nvPr/>
        </p:nvSpPr>
        <p:spPr>
          <a:xfrm>
            <a:off x="16179624" y="23902023"/>
            <a:ext cx="5223034" cy="2492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solidFill>
                  <a:schemeClr val="bg1"/>
                </a:solidFill>
                <a:latin typeface="Verdana"/>
                <a:ea typeface="Verdana"/>
                <a:cs typeface="Arial"/>
              </a:rPr>
              <a:t>[1] Elephant Robotics, "</a:t>
            </a:r>
            <a:r>
              <a:rPr lang="en-US" sz="1200" dirty="0" err="1">
                <a:solidFill>
                  <a:schemeClr val="bg1"/>
                </a:solidFill>
                <a:latin typeface="Verdana"/>
                <a:ea typeface="Verdana"/>
                <a:cs typeface="Arial"/>
              </a:rPr>
              <a:t>MyCobot</a:t>
            </a:r>
            <a:r>
              <a:rPr lang="en-US" sz="1200" dirty="0">
                <a:solidFill>
                  <a:schemeClr val="bg1"/>
                </a:solidFill>
                <a:latin typeface="Verdana"/>
                <a:ea typeface="Verdana"/>
                <a:cs typeface="Arial"/>
              </a:rPr>
              <a:t> 280 Pi - 6 DOF Collaborative Robot," Elephant Robotics, Shenzhen, China.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https://www.elephantrobotics.com/en/mycobot-280-pi-2023/</a:t>
            </a:r>
            <a:endParaRPr lang="en-US" sz="1200" dirty="0">
              <a:solidFill>
                <a:schemeClr val="bg1"/>
              </a:solidFill>
              <a:latin typeface="Verdana"/>
              <a:ea typeface="Verdana"/>
              <a:cs typeface="Arial"/>
            </a:endParaRPr>
          </a:p>
          <a:p>
            <a:r>
              <a:rPr lang="en-US" sz="1200" dirty="0">
                <a:solidFill>
                  <a:schemeClr val="bg1"/>
                </a:solidFill>
                <a:latin typeface="Verdana"/>
                <a:ea typeface="Verdana"/>
                <a:cs typeface="Arial"/>
              </a:rPr>
              <a:t>[2] The PHP Group, "PHP: Hypertext Preprocessor," version 7.0+,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https://www.php.net/</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[3] Oracle Corporation, "MySQL Database,"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https://www.mysql.com/</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[4] "</a:t>
            </a:r>
            <a:r>
              <a:rPr lang="en-US" sz="1200" dirty="0" err="1">
                <a:solidFill>
                  <a:schemeClr val="bg1"/>
                </a:solidFill>
                <a:latin typeface="Verdana"/>
                <a:ea typeface="Verdana"/>
                <a:cs typeface="Arial"/>
              </a:rPr>
              <a:t>mysql</a:t>
            </a:r>
            <a:r>
              <a:rPr lang="en-US" sz="1200" dirty="0">
                <a:solidFill>
                  <a:schemeClr val="bg1"/>
                </a:solidFill>
                <a:latin typeface="Verdana"/>
                <a:ea typeface="Verdana"/>
                <a:cs typeface="Arial"/>
              </a:rPr>
              <a:t>-connector-python: MySQL driver written in Python," </a:t>
            </a:r>
            <a:r>
              <a:rPr lang="en-US" sz="1200" dirty="0" err="1">
                <a:solidFill>
                  <a:schemeClr val="bg1"/>
                </a:solidFill>
                <a:latin typeface="Verdana"/>
                <a:ea typeface="Verdana"/>
                <a:cs typeface="Arial"/>
              </a:rPr>
              <a:t>PyPI</a:t>
            </a:r>
            <a:r>
              <a:rPr lang="en-US" sz="1200" dirty="0">
                <a:solidFill>
                  <a:schemeClr val="bg1"/>
                </a:solidFill>
                <a:latin typeface="Verdana"/>
                <a:ea typeface="Verdana"/>
                <a:cs typeface="Arial"/>
              </a:rPr>
              <a:t>,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https://pypi.org/project/mysql-connector-python/</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[5] WinSCP, "WinSCP - Free SFTP, SCP, S3 and FTP client for Windows,"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https://winscp.net/</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p:txBody>
      </p:sp>
      <p:sp>
        <p:nvSpPr>
          <p:cNvPr id="9" name="TextBox 8">
            <a:extLst>
              <a:ext uri="{FF2B5EF4-FFF2-40B4-BE49-F238E27FC236}">
                <a16:creationId xmlns:a16="http://schemas.microsoft.com/office/drawing/2014/main" id="{12BE7911-04DC-DF72-38CB-F66607827A42}"/>
              </a:ext>
            </a:extLst>
          </p:cNvPr>
          <p:cNvSpPr txBox="1"/>
          <p:nvPr/>
        </p:nvSpPr>
        <p:spPr>
          <a:xfrm>
            <a:off x="430817" y="23119270"/>
            <a:ext cx="10229239"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800" b="1" dirty="0">
                <a:solidFill>
                  <a:schemeClr val="bg1"/>
                </a:solidFill>
                <a:latin typeface="Verdana"/>
                <a:ea typeface="Verdana"/>
                <a:cs typeface="Arial"/>
              </a:rPr>
              <a:t>Database-Driven Robot Control:</a:t>
            </a:r>
            <a:r>
              <a:rPr lang="en-US" sz="1800" dirty="0">
                <a:solidFill>
                  <a:schemeClr val="bg1"/>
                </a:solidFill>
                <a:latin typeface="Verdana"/>
                <a:ea typeface="Verdana"/>
                <a:cs typeface="Arial"/>
              </a:rPr>
              <a:t> We learned how to use a database and a website to communicate with an external machine.</a:t>
            </a:r>
          </a:p>
          <a:p>
            <a:endParaRPr lang="en-US" sz="1800" dirty="0">
              <a:solidFill>
                <a:schemeClr val="bg1"/>
              </a:solidFill>
              <a:latin typeface="Verdana"/>
              <a:ea typeface="Verdana"/>
              <a:cs typeface="Arial"/>
            </a:endParaRPr>
          </a:p>
          <a:p>
            <a:r>
              <a:rPr lang="en-US" sz="1800" b="1" dirty="0">
                <a:solidFill>
                  <a:schemeClr val="bg1"/>
                </a:solidFill>
                <a:latin typeface="Verdana"/>
                <a:ea typeface="Verdana"/>
                <a:cs typeface="Arial"/>
              </a:rPr>
              <a:t>Identifying Potential Improvements:</a:t>
            </a:r>
            <a:r>
              <a:rPr lang="en-US" sz="1800" dirty="0">
                <a:solidFill>
                  <a:schemeClr val="bg1"/>
                </a:solidFill>
                <a:latin typeface="Verdana"/>
                <a:ea typeface="Verdana"/>
                <a:cs typeface="Arial"/>
              </a:rPr>
              <a:t> We learned how to accurately identify when something could end up becoming a problem later in the project lifecycle, and how to fix these potential issues sooner rather than later.</a:t>
            </a:r>
          </a:p>
          <a:p>
            <a:endParaRPr lang="en-US" sz="1800" dirty="0">
              <a:solidFill>
                <a:schemeClr val="bg1"/>
              </a:solidFill>
              <a:latin typeface="Verdana"/>
              <a:ea typeface="Verdana"/>
              <a:cs typeface="Arial"/>
            </a:endParaRPr>
          </a:p>
          <a:p>
            <a:r>
              <a:rPr lang="en-US" sz="1800" b="1" dirty="0">
                <a:solidFill>
                  <a:schemeClr val="bg1"/>
                </a:solidFill>
                <a:latin typeface="Verdana"/>
                <a:ea typeface="Verdana"/>
                <a:cs typeface="Arial"/>
              </a:rPr>
              <a:t>Working in a Team: </a:t>
            </a:r>
            <a:r>
              <a:rPr lang="en-US" sz="1800" dirty="0">
                <a:solidFill>
                  <a:schemeClr val="bg1"/>
                </a:solidFill>
                <a:latin typeface="Verdana"/>
                <a:ea typeface="Verdana"/>
                <a:cs typeface="Arial"/>
              </a:rPr>
              <a:t>Teamwork is one of the most important skills someone can have. Through this project we had to communicate effectively with each other so that our CS people can understand the engineering side of our project, and the engineers understand the CS side of our project</a:t>
            </a:r>
            <a:endParaRPr lang="en-US" sz="1800" b="1" dirty="0">
              <a:solidFill>
                <a:schemeClr val="bg1"/>
              </a:solidFill>
              <a:latin typeface="Verdana"/>
              <a:ea typeface="Verdana"/>
              <a:cs typeface="Arial"/>
            </a:endParaRPr>
          </a:p>
        </p:txBody>
      </p:sp>
      <p:pic>
        <p:nvPicPr>
          <p:cNvPr id="23" name="Picture 22" descr="A screenshot of a computer&#10;&#10;AI-generated content may be incorrect.">
            <a:extLst>
              <a:ext uri="{FF2B5EF4-FFF2-40B4-BE49-F238E27FC236}">
                <a16:creationId xmlns:a16="http://schemas.microsoft.com/office/drawing/2014/main" id="{E57AA732-8C08-FD4D-D447-8D416C9E8625}"/>
              </a:ext>
            </a:extLst>
          </p:cNvPr>
          <p:cNvPicPr>
            <a:picLocks noChangeAspect="1"/>
          </p:cNvPicPr>
          <p:nvPr/>
        </p:nvPicPr>
        <p:blipFill>
          <a:blip r:embed="rId8"/>
          <a:stretch>
            <a:fillRect/>
          </a:stretch>
        </p:blipFill>
        <p:spPr>
          <a:xfrm>
            <a:off x="718212" y="17968910"/>
            <a:ext cx="7834117" cy="364358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EFA95D5A453204B82B388E0EAEB7722" ma:contentTypeVersion="17" ma:contentTypeDescription="Create a new document." ma:contentTypeScope="" ma:versionID="dda70ad3042d19a9677b7138053d1fa9">
  <xsd:schema xmlns:xsd="http://www.w3.org/2001/XMLSchema" xmlns:xs="http://www.w3.org/2001/XMLSchema" xmlns:p="http://schemas.microsoft.com/office/2006/metadata/properties" xmlns:ns2="fab6ae7d-06c6-440f-bba1-9caa7231207d" xmlns:ns3="c875c36d-ac51-4e84-9442-bee5089cbcea" targetNamespace="http://schemas.microsoft.com/office/2006/metadata/properties" ma:root="true" ma:fieldsID="98010f272a5ba5ef2e8b4481ca434998" ns2:_="" ns3:_="">
    <xsd:import namespace="fab6ae7d-06c6-440f-bba1-9caa7231207d"/>
    <xsd:import namespace="c875c36d-ac51-4e84-9442-bee5089cbcea"/>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Location" minOccurs="0"/>
                <xsd:element ref="ns2:lcf76f155ced4ddcb4097134ff3c332f" minOccurs="0"/>
                <xsd:element ref="ns3:TaxCatchAll" minOccurs="0"/>
                <xsd:element ref="ns2:MediaLengthInSecond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b6ae7d-06c6-440f-bba1-9caa7231207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6b4d52c6-c4b0-46c1-b394-80ad7ac9603b" ma:termSetId="09814cd3-568e-fe90-9814-8d621ff8fb84" ma:anchorId="fba54fb3-c3e1-fe81-a776-ca4b69148c4d" ma:open="true" ma:isKeyword="false">
      <xsd:complexType>
        <xsd:sequence>
          <xsd:element ref="pc:Terms" minOccurs="0" maxOccurs="1"/>
        </xsd:sequence>
      </xsd:complexType>
    </xsd:element>
    <xsd:element name="MediaLengthInSeconds" ma:index="23" nillable="true" ma:displayName="MediaLengthInSeconds" ma:hidden="true" ma:internalName="MediaLengthInSeconds" ma:readOnly="true">
      <xsd:simpleType>
        <xsd:restriction base="dms:Unknown"/>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875c36d-ac51-4e84-9442-bee5089cbcea"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c3b81428-a98e-4101-865d-41651c737e0e}" ma:internalName="TaxCatchAll" ma:showField="CatchAllData" ma:web="c875c36d-ac51-4e84-9442-bee5089cbce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c875c36d-ac51-4e84-9442-bee5089cbcea" xsi:nil="true"/>
    <lcf76f155ced4ddcb4097134ff3c332f xmlns="fab6ae7d-06c6-440f-bba1-9caa7231207d">
      <Terms xmlns="http://schemas.microsoft.com/office/infopath/2007/PartnerControls"/>
    </lcf76f155ced4ddcb4097134ff3c332f>
    <MediaLengthInSeconds xmlns="fab6ae7d-06c6-440f-bba1-9caa7231207d" xsi:nil="true"/>
    <SharedWithUsers xmlns="c875c36d-ac51-4e84-9442-bee5089cbcea">
      <UserInfo>
        <DisplayName/>
        <AccountId xsi:nil="true"/>
        <AccountType/>
      </UserInfo>
    </SharedWithUsers>
  </documentManagement>
</p:properties>
</file>

<file path=customXml/itemProps1.xml><?xml version="1.0" encoding="utf-8"?>
<ds:datastoreItem xmlns:ds="http://schemas.openxmlformats.org/officeDocument/2006/customXml" ds:itemID="{32646343-FA08-41DE-B0D1-4C7CF84D715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ab6ae7d-06c6-440f-bba1-9caa7231207d"/>
    <ds:schemaRef ds:uri="c875c36d-ac51-4e84-9442-bee5089cbc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A638ADA-06DF-45AB-BFB2-D0D6F294C0ED}">
  <ds:schemaRefs>
    <ds:schemaRef ds:uri="http://schemas.microsoft.com/sharepoint/v3/contenttype/forms"/>
  </ds:schemaRefs>
</ds:datastoreItem>
</file>

<file path=customXml/itemProps3.xml><?xml version="1.0" encoding="utf-8"?>
<ds:datastoreItem xmlns:ds="http://schemas.openxmlformats.org/officeDocument/2006/customXml" ds:itemID="{3A28B7BE-1EEF-4846-B0EC-E672D97B7FFD}">
  <ds:schemaRefs>
    <ds:schemaRef ds:uri="http://schemas.microsoft.com/office/2006/metadata/properties"/>
    <ds:schemaRef ds:uri="http://schemas.microsoft.com/office/infopath/2007/PartnerControls"/>
    <ds:schemaRef ds:uri="c875c36d-ac51-4e84-9442-bee5089cbcea"/>
    <ds:schemaRef ds:uri="fab6ae7d-06c6-440f-bba1-9caa7231207d"/>
  </ds:schemaRefs>
</ds:datastoreItem>
</file>

<file path=docProps/app.xml><?xml version="1.0" encoding="utf-8"?>
<Properties xmlns="http://schemas.openxmlformats.org/officeDocument/2006/extended-properties" xmlns:vt="http://schemas.openxmlformats.org/officeDocument/2006/docPropsVTypes">
  <TotalTime>5679</TotalTime>
  <Words>757</Words>
  <Application>Microsoft Office PowerPoint</Application>
  <PresentationFormat>Custom</PresentationFormat>
  <Paragraphs>44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Verdana</vt: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lastModifiedBy>Ament, Andrew G</cp:lastModifiedBy>
  <cp:revision>183</cp:revision>
  <dcterms:created xsi:type="dcterms:W3CDTF">2008-04-17T15:23:35Z</dcterms:created>
  <dcterms:modified xsi:type="dcterms:W3CDTF">2025-12-11T15:45:55Z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0x0101008EFA95D5A453204B82B388E0EAEB7722</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